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161" autoAdjust="0"/>
    <p:restoredTop sz="94660"/>
  </p:normalViewPr>
  <p:slideViewPr>
    <p:cSldViewPr snapToGrid="0">
      <p:cViewPr>
        <p:scale>
          <a:sx n="66" d="100"/>
          <a:sy n="66" d="100"/>
        </p:scale>
        <p:origin x="1242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42F7C4-ABC3-4643-867B-9F4B052E8767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DDB9AF-8189-45C3-B518-458CAB4BA90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273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DDB9AF-8189-45C3-B518-458CAB4BA90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881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DDB9AF-8189-45C3-B518-458CAB4BA90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3944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9FEC9-C2F5-19C1-41B3-664DBDD25F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FA7D89E-BC25-FE63-6A7E-B0D8B00369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3844F8-F35B-CAAA-3234-587E87D3C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D2041A-C532-E3DB-0769-9C8CC04C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6ACF9C8-C124-031C-2FE6-20613BA2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1417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6328D0-091C-158A-C7A3-93EFA2551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828C6-CEE5-6021-0729-67D7CCA98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6D70E84-A4D5-6341-08BF-0D45C494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6A21B4-05DA-0BF1-1ADC-D1A32437A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202D4A-1343-0821-615B-D117C8E88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0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5B44DC-5FDB-9687-E9CB-46137A47B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D685992-6E9F-6BED-37CE-17A5167AB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482E32-E09B-E78C-E899-C3F286011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E0D82C-273A-5533-1AE9-8A2A4A337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486187-A7D6-17B6-E9EA-C1B47E95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9937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F545F5-DEE5-E9BA-8B16-D3E1B8335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E516A7-0579-28C1-8F15-26554E300C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B631D7-FAAC-1D62-6C63-84B9331085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1350B7-1694-73A2-7A5F-10004E8DA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0F29AE3-63ED-8624-A5C8-16F19EED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4C4A69-5F65-4AEF-58A9-D4E2F3AFB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3804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A6BB9-4E1C-3D34-0E42-DF11F7C8E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48617C-37BA-12D2-6FA9-66DAB71133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695B38F-A160-2A54-56E8-0EC26647D5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03BE58-EF1F-655C-E687-A723A25E3A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47C3A92-8A96-2783-5569-C26AA95C0A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14C84E7-EAD1-4358-E7C6-2922CEB47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58245A5-E6E1-68AE-234C-C353C63B2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807D45F-AA7F-A0A0-96C1-19CDB23A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767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B97AD1-0796-6FDE-FA30-FC6C3A942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480F3C-856E-4E0B-7B4C-324B86C05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01BB2B4-23A8-5356-E5A0-F4B69E9C9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41F402-31C8-A3A8-FC39-762AB260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5943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96F98E-CAE6-B3FA-5A8F-7866AFB6D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8388500-5C8E-8BDA-37A4-B584EFC49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4E3C87D-8688-33D3-FC2A-C9F19FA4C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6527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AF3D8E-1B4B-6E99-177A-E6099CD48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2F68FC-039F-632F-33EB-575CCA01A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E5C2692-FFDC-ACA3-9785-8FF80CB41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09F3A1B-EBB1-8321-B4A2-FEED72E29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5138D49-8E2A-EC03-6869-ECC1246D4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C8001A-8216-C436-4C0A-1A090EB1F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5205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4A2D2E-66B0-61EB-54BD-D4716B630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1388E97-799D-7ADA-6288-4003701492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584342-667C-CFD5-B70C-A2A27DB2AB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AB1D49B-5864-1BC6-6F70-DD97B44BE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F3DB5F4-B516-12AF-B6C6-92723D47F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EBC3C7-1627-6A1E-6052-77BFAD5E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7572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F80B67-041E-1D7F-8342-60C9C5E74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1B0BF25-71D6-5BA8-B892-3FA595D722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61F151-FBEF-60C0-1A66-0CAC16ADF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6317CD-8862-939F-E866-4D80C90D0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3385BC-8AD3-FE73-78D2-35B82B015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909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9FD0F08-F868-39E0-3CBE-70B2A41817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E54C7F3-F38E-09B3-383E-768BFFE1D4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25CB90-BE17-E4CB-EEF9-AC84E56A5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92C5EE-32D5-13F8-16A6-6DE5FF941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24E228-5ED1-3212-EBDA-F7DF6AC0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272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E9EE8EF-66D5-BDBB-1148-90D60123C6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12AC6C-94C2-F1AE-8223-50AD66381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4BF59D-A0F8-C500-FA7F-5C51D9B421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1F330-28F2-4750-A13F-BD1065967190}" type="datetimeFigureOut">
              <a:rPr lang="de-DE" smtClean="0"/>
              <a:t>18.11.2025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5F31E1-41E6-FDF7-A168-AA4D4E55B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E0A41E-6778-94FB-FC56-02AAD73F1F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4692B-3478-412A-BF42-34E391C0EE2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2261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Relationship Id="rId9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6293D0B-FB66-3772-C6C2-CC72E710AA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95" y="329813"/>
            <a:ext cx="2399010" cy="140094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D8656005-2A96-3F18-050D-CC7DE5891D34}"/>
              </a:ext>
            </a:extLst>
          </p:cNvPr>
          <p:cNvSpPr txBox="1"/>
          <p:nvPr/>
        </p:nvSpPr>
        <p:spPr>
          <a:xfrm>
            <a:off x="2992581" y="291623"/>
            <a:ext cx="88749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000" b="1" dirty="0">
                <a:solidFill>
                  <a:schemeClr val="bg1"/>
                </a:solidFill>
              </a:rPr>
              <a:t>Kategorisierung der physikochemischen Eigenschaften von Thermalwässern in geothermischen Reservoiren mittels unüberwachter Lernverfahren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D5263B6-108F-0757-C7E6-7A0300D80058}"/>
              </a:ext>
            </a:extLst>
          </p:cNvPr>
          <p:cNvSpPr txBox="1"/>
          <p:nvPr/>
        </p:nvSpPr>
        <p:spPr>
          <a:xfrm>
            <a:off x="2461489" y="2986429"/>
            <a:ext cx="7269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600" dirty="0">
                <a:solidFill>
                  <a:schemeClr val="bg1"/>
                </a:solidFill>
              </a:rPr>
              <a:t>Exposé Präsentation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B4B63F2-FDA2-67B3-0321-6DC77FBAE663}"/>
              </a:ext>
            </a:extLst>
          </p:cNvPr>
          <p:cNvSpPr txBox="1"/>
          <p:nvPr/>
        </p:nvSpPr>
        <p:spPr>
          <a:xfrm>
            <a:off x="3297380" y="4056237"/>
            <a:ext cx="55972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/>
                </a:solidFill>
              </a:rPr>
              <a:t>Freitag, 21. November 2025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7439AA1-DCC8-2730-50D9-69897D5C710D}"/>
              </a:ext>
            </a:extLst>
          </p:cNvPr>
          <p:cNvSpPr txBox="1"/>
          <p:nvPr/>
        </p:nvSpPr>
        <p:spPr>
          <a:xfrm>
            <a:off x="179413" y="6059121"/>
            <a:ext cx="3398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22TIB | WS25/26</a:t>
            </a:r>
          </a:p>
          <a:p>
            <a:r>
              <a:rPr lang="de-DE" dirty="0">
                <a:solidFill>
                  <a:schemeClr val="bg1"/>
                </a:solidFill>
              </a:rPr>
              <a:t>Lucca Glessner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D8AC6C9-3596-C91E-C973-14F048A77DF4}"/>
              </a:ext>
            </a:extLst>
          </p:cNvPr>
          <p:cNvSpPr txBox="1"/>
          <p:nvPr/>
        </p:nvSpPr>
        <p:spPr>
          <a:xfrm>
            <a:off x="7810040" y="6028999"/>
            <a:ext cx="4202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Praxisprojekt 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Betreuung: Prof. Dr. Schöbel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40185DD0-53F3-B921-25AF-AA25F9DB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>
            <a:off x="7777413" y="8811203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975EBA4C-2669-7906-5132-D379B8120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13140192">
            <a:off x="5626260" y="7435266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11605104-13D0-4B5A-72E0-8A8F30B242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14348309">
            <a:off x="4032904" y="6719346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DC7ED405-8D3A-787D-6B8E-9961568A2B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10453231">
            <a:off x="2891975" y="8815435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CC327C15-E0B6-FC19-3C6A-01D71CDA0AB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9279917">
            <a:off x="5761552" y="11711828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7F6653BA-5490-C822-7D69-91257E7015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7624929">
            <a:off x="4144135" y="10989657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CBB95D9E-2444-04F8-5285-FC4F10786648}"/>
              </a:ext>
            </a:extLst>
          </p:cNvPr>
          <p:cNvSpPr txBox="1"/>
          <p:nvPr/>
        </p:nvSpPr>
        <p:spPr>
          <a:xfrm>
            <a:off x="4124824" y="9450352"/>
            <a:ext cx="3746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800" b="1" dirty="0">
                <a:solidFill>
                  <a:schemeClr val="bg1"/>
                </a:solidFill>
              </a:rPr>
              <a:t>Exposé</a:t>
            </a:r>
          </a:p>
          <a:p>
            <a:pPr algn="ctr"/>
            <a:r>
              <a:rPr lang="de-DE" sz="4800" b="1" dirty="0">
                <a:solidFill>
                  <a:schemeClr val="bg1"/>
                </a:solidFill>
              </a:rPr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1279603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965272-DFAD-704B-3EF5-C9C9CB167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>
            <a:extLst>
              <a:ext uri="{FF2B5EF4-FFF2-40B4-BE49-F238E27FC236}">
                <a16:creationId xmlns:a16="http://schemas.microsoft.com/office/drawing/2014/main" id="{CBCD9626-7976-71F4-CE50-7A2E5418C6FD}"/>
              </a:ext>
            </a:extLst>
          </p:cNvPr>
          <p:cNvSpPr txBox="1"/>
          <p:nvPr/>
        </p:nvSpPr>
        <p:spPr>
          <a:xfrm>
            <a:off x="179413" y="10645638"/>
            <a:ext cx="33989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22TIB | WS25/26</a:t>
            </a:r>
          </a:p>
          <a:p>
            <a:r>
              <a:rPr lang="de-DE" dirty="0">
                <a:solidFill>
                  <a:schemeClr val="bg1"/>
                </a:solidFill>
              </a:rPr>
              <a:t>Lucca Glessner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C90D34-857D-3C5C-9137-E015B2A80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>
            <a:off x="7810040" y="2017263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C28D1FA5-DA6C-700F-7823-177ECCF16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13140192">
            <a:off x="5688384" y="641326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2F9B714-E23B-2349-8CA8-334A7691C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14348309">
            <a:off x="4095028" y="-74594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67118332-AF42-7125-5C39-877FACDB52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10453231">
            <a:off x="2924602" y="2021495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C8FCFB7-2046-B522-400A-1EF999C740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9279917">
            <a:off x="5794179" y="4917888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04F8E8E-3960-73F2-9958-05B498C336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7624929">
            <a:off x="4176762" y="4195717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530AFEA0-7C2B-65A0-91DD-86215C613198}"/>
              </a:ext>
            </a:extLst>
          </p:cNvPr>
          <p:cNvSpPr txBox="1"/>
          <p:nvPr/>
        </p:nvSpPr>
        <p:spPr>
          <a:xfrm>
            <a:off x="4157451" y="2656412"/>
            <a:ext cx="3746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800" b="1" dirty="0">
                <a:solidFill>
                  <a:schemeClr val="bg1"/>
                </a:solidFill>
              </a:rPr>
              <a:t>Exposé</a:t>
            </a:r>
          </a:p>
          <a:p>
            <a:pPr algn="ctr"/>
            <a:r>
              <a:rPr lang="de-DE" sz="4800" b="1" dirty="0">
                <a:solidFill>
                  <a:schemeClr val="bg1"/>
                </a:solidFill>
              </a:rPr>
              <a:t>Präsentation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7DD2EB7-20E6-3B11-A3B3-4F7C1DAC361C}"/>
              </a:ext>
            </a:extLst>
          </p:cNvPr>
          <p:cNvSpPr txBox="1"/>
          <p:nvPr/>
        </p:nvSpPr>
        <p:spPr>
          <a:xfrm>
            <a:off x="7810040" y="10615516"/>
            <a:ext cx="4202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</a:rPr>
              <a:t>Praxisprojekt 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Betreuung: Prof. Dr. Schöbel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F8C357FD-FD92-5EC8-A065-7D2FE37AF8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95" y="-6011994"/>
            <a:ext cx="2399010" cy="1400949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3FF11540-5A55-F5BC-EB8A-27C4009AC515}"/>
              </a:ext>
            </a:extLst>
          </p:cNvPr>
          <p:cNvSpPr txBox="1"/>
          <p:nvPr/>
        </p:nvSpPr>
        <p:spPr>
          <a:xfrm>
            <a:off x="2992581" y="-6050184"/>
            <a:ext cx="88749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000" b="1" dirty="0">
                <a:solidFill>
                  <a:schemeClr val="bg1"/>
                </a:solidFill>
              </a:rPr>
              <a:t>Kategorisierung der physikochemischen Eigenschaften von Thermalwässern in geothermischen Reservoiren mittels unüberwachter Lernverfahren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8E761313-9639-40E3-2D09-999170EECC52}"/>
              </a:ext>
            </a:extLst>
          </p:cNvPr>
          <p:cNvSpPr txBox="1"/>
          <p:nvPr/>
        </p:nvSpPr>
        <p:spPr>
          <a:xfrm>
            <a:off x="2461489" y="-3355378"/>
            <a:ext cx="7269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600" dirty="0">
                <a:solidFill>
                  <a:schemeClr val="bg1"/>
                </a:solidFill>
              </a:rPr>
              <a:t>Exposé Präsentation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7C7BCEA-F0EC-F71F-9F4D-1DDB566A3E81}"/>
              </a:ext>
            </a:extLst>
          </p:cNvPr>
          <p:cNvSpPr txBox="1"/>
          <p:nvPr/>
        </p:nvSpPr>
        <p:spPr>
          <a:xfrm>
            <a:off x="3297380" y="-2285570"/>
            <a:ext cx="55972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/>
                </a:solidFill>
              </a:rPr>
              <a:t>Freitag, 21. November 2025</a:t>
            </a:r>
          </a:p>
        </p:txBody>
      </p:sp>
    </p:spTree>
    <p:extLst>
      <p:ext uri="{BB962C8B-B14F-4D97-AF65-F5344CB8AC3E}">
        <p14:creationId xmlns:p14="http://schemas.microsoft.com/office/powerpoint/2010/main" val="6086994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4D43BB-58F4-8DBC-A906-21C0BCC1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AC95B7C3-5071-6FA4-6FA3-BBD6DBB2C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>
            <a:off x="7810040" y="2017263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94CACC26-60B0-D2F4-EB1B-AA762CEE57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13140192">
            <a:off x="5688384" y="641326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6B91FD2-4E6C-E2AE-1CF8-EF7303A4E4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14348309">
            <a:off x="4095028" y="-74594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C48DF9B-B74A-6F27-EDCA-1E1621DD74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10453231">
            <a:off x="2924602" y="2021495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136FF1C-90E9-9870-62A6-678EF339C8A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9279917">
            <a:off x="5794179" y="4917888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6368AB0-03FE-C2AA-EC63-DBB96B9930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7624929">
            <a:off x="4176762" y="4195717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45A1270A-5A4B-F6A8-9E50-FAAB0571B8A9}"/>
              </a:ext>
            </a:extLst>
          </p:cNvPr>
          <p:cNvSpPr txBox="1"/>
          <p:nvPr/>
        </p:nvSpPr>
        <p:spPr>
          <a:xfrm>
            <a:off x="4157451" y="2656412"/>
            <a:ext cx="3746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800" b="1" dirty="0">
                <a:solidFill>
                  <a:schemeClr val="bg1"/>
                </a:solidFill>
              </a:rPr>
              <a:t>Exposé</a:t>
            </a:r>
          </a:p>
          <a:p>
            <a:pPr algn="ctr"/>
            <a:r>
              <a:rPr lang="de-DE" sz="4800" b="1" dirty="0">
                <a:solidFill>
                  <a:schemeClr val="bg1"/>
                </a:solidFill>
              </a:rPr>
              <a:t>Präsentation</a:t>
            </a: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C56632D6-9EF2-552A-52CB-32E7DBC8CE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495" y="-6011994"/>
            <a:ext cx="2399010" cy="1400949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CD8FA338-F90A-B9A9-9EBB-A5E40CD9E80F}"/>
              </a:ext>
            </a:extLst>
          </p:cNvPr>
          <p:cNvSpPr txBox="1"/>
          <p:nvPr/>
        </p:nvSpPr>
        <p:spPr>
          <a:xfrm>
            <a:off x="2992581" y="-6050184"/>
            <a:ext cx="88749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000" b="1" dirty="0">
                <a:solidFill>
                  <a:schemeClr val="bg1"/>
                </a:solidFill>
              </a:rPr>
              <a:t>Kategorisierung der physikochemischen Eigenschaften von Thermalwässern in geothermischen Reservoiren mittels unüberwachter Lernverfahren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932D411-B0ED-69ED-46BC-7AC215E22F14}"/>
              </a:ext>
            </a:extLst>
          </p:cNvPr>
          <p:cNvSpPr txBox="1"/>
          <p:nvPr/>
        </p:nvSpPr>
        <p:spPr>
          <a:xfrm>
            <a:off x="2461489" y="-3355378"/>
            <a:ext cx="7269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600" dirty="0">
                <a:solidFill>
                  <a:schemeClr val="bg1"/>
                </a:solidFill>
              </a:rPr>
              <a:t>Exposé Präsentation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714D38B0-CC2E-1F66-F7FB-492E02840BDE}"/>
              </a:ext>
            </a:extLst>
          </p:cNvPr>
          <p:cNvSpPr txBox="1"/>
          <p:nvPr/>
        </p:nvSpPr>
        <p:spPr>
          <a:xfrm>
            <a:off x="3297380" y="-2285570"/>
            <a:ext cx="55972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/>
                </a:solidFill>
              </a:rPr>
              <a:t>Freitag, 21. November 2025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06608F3-1726-698A-1DAA-42AEA7BB678E}"/>
              </a:ext>
            </a:extLst>
          </p:cNvPr>
          <p:cNvCxnSpPr>
            <a:cxnSpLocks/>
          </p:cNvCxnSpPr>
          <p:nvPr/>
        </p:nvCxnSpPr>
        <p:spPr>
          <a:xfrm>
            <a:off x="9323161" y="3290207"/>
            <a:ext cx="238941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83F20D3-1912-19C6-6367-8B6B1B76B24B}"/>
              </a:ext>
            </a:extLst>
          </p:cNvPr>
          <p:cNvCxnSpPr>
            <a:cxnSpLocks/>
          </p:cNvCxnSpPr>
          <p:nvPr/>
        </p:nvCxnSpPr>
        <p:spPr>
          <a:xfrm>
            <a:off x="469900" y="3988707"/>
            <a:ext cx="229170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2685043-B0FB-2ECB-38E4-A3AF1C334F2E}"/>
              </a:ext>
            </a:extLst>
          </p:cNvPr>
          <p:cNvCxnSpPr>
            <a:cxnSpLocks/>
          </p:cNvCxnSpPr>
          <p:nvPr/>
        </p:nvCxnSpPr>
        <p:spPr>
          <a:xfrm>
            <a:off x="8451984" y="1334407"/>
            <a:ext cx="255704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93B7649-2CA9-47A4-A9FE-92B61CA2B955}"/>
              </a:ext>
            </a:extLst>
          </p:cNvPr>
          <p:cNvCxnSpPr>
            <a:cxnSpLocks/>
          </p:cNvCxnSpPr>
          <p:nvPr/>
        </p:nvCxnSpPr>
        <p:spPr>
          <a:xfrm>
            <a:off x="852263" y="1484085"/>
            <a:ext cx="255704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2194A13-2051-E742-B6C1-861029A89420}"/>
              </a:ext>
            </a:extLst>
          </p:cNvPr>
          <p:cNvCxnSpPr>
            <a:cxnSpLocks/>
          </p:cNvCxnSpPr>
          <p:nvPr/>
        </p:nvCxnSpPr>
        <p:spPr>
          <a:xfrm>
            <a:off x="8230961" y="5944507"/>
            <a:ext cx="255704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9CA5CB9-1FE2-FF9B-9FDA-396F0311A8BE}"/>
              </a:ext>
            </a:extLst>
          </p:cNvPr>
          <p:cNvCxnSpPr>
            <a:cxnSpLocks/>
          </p:cNvCxnSpPr>
          <p:nvPr/>
        </p:nvCxnSpPr>
        <p:spPr>
          <a:xfrm>
            <a:off x="1169761" y="6147707"/>
            <a:ext cx="278615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36EC35EF-6792-E2F7-0E13-650A7B228E40}"/>
              </a:ext>
            </a:extLst>
          </p:cNvPr>
          <p:cNvSpPr txBox="1"/>
          <p:nvPr/>
        </p:nvSpPr>
        <p:spPr>
          <a:xfrm>
            <a:off x="9677834" y="5086050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Problem-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 err="1">
                <a:solidFill>
                  <a:schemeClr val="bg1"/>
                </a:solidFill>
              </a:rPr>
              <a:t>stellung</a:t>
            </a:r>
            <a:endParaRPr lang="de-DE" sz="2500" dirty="0">
              <a:solidFill>
                <a:schemeClr val="bg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1D0FAC8B-47A3-BC03-5232-B46F3AD70226}"/>
              </a:ext>
            </a:extLst>
          </p:cNvPr>
          <p:cNvSpPr txBox="1"/>
          <p:nvPr/>
        </p:nvSpPr>
        <p:spPr>
          <a:xfrm>
            <a:off x="1077009" y="5295600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Technologische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>
                <a:solidFill>
                  <a:schemeClr val="bg1"/>
                </a:solidFill>
              </a:rPr>
              <a:t>Mittel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32A97201-2099-01F9-EAAC-318CEC456965}"/>
              </a:ext>
            </a:extLst>
          </p:cNvPr>
          <p:cNvSpPr txBox="1"/>
          <p:nvPr/>
        </p:nvSpPr>
        <p:spPr>
          <a:xfrm>
            <a:off x="378454" y="3145983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Untersuchungs-design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99D6EC-A9C4-4821-73F8-FF4ECC52CE19}"/>
              </a:ext>
            </a:extLst>
          </p:cNvPr>
          <p:cNvSpPr txBox="1"/>
          <p:nvPr/>
        </p:nvSpPr>
        <p:spPr>
          <a:xfrm>
            <a:off x="775295" y="637063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Arbeits-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 err="1">
                <a:solidFill>
                  <a:schemeClr val="bg1"/>
                </a:solidFill>
              </a:rPr>
              <a:t>gliederung</a:t>
            </a:r>
            <a:endParaRPr lang="de-DE" sz="2500" dirty="0">
              <a:solidFill>
                <a:schemeClr val="bg1"/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0BBCD30-2848-5E29-0EEF-F8EC61FEDF0D}"/>
              </a:ext>
            </a:extLst>
          </p:cNvPr>
          <p:cNvSpPr txBox="1"/>
          <p:nvPr/>
        </p:nvSpPr>
        <p:spPr>
          <a:xfrm>
            <a:off x="8996213" y="457205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Arbeitsplan und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>
                <a:solidFill>
                  <a:schemeClr val="bg1"/>
                </a:solidFill>
              </a:rPr>
              <a:t>aktueller Stand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BB27E2C6-BFD4-FCC0-278D-D74124F84D44}"/>
              </a:ext>
            </a:extLst>
          </p:cNvPr>
          <p:cNvSpPr txBox="1"/>
          <p:nvPr/>
        </p:nvSpPr>
        <p:spPr>
          <a:xfrm>
            <a:off x="10571491" y="2829326"/>
            <a:ext cx="228216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Abstract</a:t>
            </a:r>
          </a:p>
        </p:txBody>
      </p:sp>
    </p:spTree>
    <p:extLst>
      <p:ext uri="{BB962C8B-B14F-4D97-AF65-F5344CB8AC3E}">
        <p14:creationId xmlns:p14="http://schemas.microsoft.com/office/powerpoint/2010/main" val="24352549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5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  <p:bldP spid="31" grpId="0"/>
      <p:bldP spid="32" grpId="0"/>
      <p:bldP spid="33" grpId="0"/>
      <p:bldP spid="3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2642A-8E54-1F9D-AE88-402BAFEFF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rafik 40">
            <a:extLst>
              <a:ext uri="{FF2B5EF4-FFF2-40B4-BE49-F238E27FC236}">
                <a16:creationId xmlns:a16="http://schemas.microsoft.com/office/drawing/2014/main" id="{8F34A79A-4183-43E3-8A38-7AB76D7544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>
            <a:off x="2532696" y="1581859"/>
            <a:ext cx="1661225" cy="367270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2" name="Grafik 41">
            <a:extLst>
              <a:ext uri="{FF2B5EF4-FFF2-40B4-BE49-F238E27FC236}">
                <a16:creationId xmlns:a16="http://schemas.microsoft.com/office/drawing/2014/main" id="{00024DDF-C6E2-D0F3-34C3-40A53D9B35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13140192">
            <a:off x="11484" y="557919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3" name="Grafik 42">
            <a:extLst>
              <a:ext uri="{FF2B5EF4-FFF2-40B4-BE49-F238E27FC236}">
                <a16:creationId xmlns:a16="http://schemas.microsoft.com/office/drawing/2014/main" id="{4B617DA0-81BE-D7AE-6BB9-029178D2B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14348309">
            <a:off x="-1581872" y="-158001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4" name="Grafik 43">
            <a:extLst>
              <a:ext uri="{FF2B5EF4-FFF2-40B4-BE49-F238E27FC236}">
                <a16:creationId xmlns:a16="http://schemas.microsoft.com/office/drawing/2014/main" id="{1FBE3021-91F6-5ABE-CA76-E9CC52DC97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10453231">
            <a:off x="-2752298" y="1938088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ADE48900-25C0-BF67-4A6D-AF8A563955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9279917">
            <a:off x="117279" y="4834481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6" name="Grafik 45">
            <a:extLst>
              <a:ext uri="{FF2B5EF4-FFF2-40B4-BE49-F238E27FC236}">
                <a16:creationId xmlns:a16="http://schemas.microsoft.com/office/drawing/2014/main" id="{00D99CAD-C47C-A692-E5EC-8DA92F7A16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7624929">
            <a:off x="-1500138" y="4112310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47" name="Textfeld 46">
            <a:extLst>
              <a:ext uri="{FF2B5EF4-FFF2-40B4-BE49-F238E27FC236}">
                <a16:creationId xmlns:a16="http://schemas.microsoft.com/office/drawing/2014/main" id="{51238894-F088-626E-C594-D2911EFE0D9A}"/>
              </a:ext>
            </a:extLst>
          </p:cNvPr>
          <p:cNvSpPr txBox="1"/>
          <p:nvPr/>
        </p:nvSpPr>
        <p:spPr>
          <a:xfrm>
            <a:off x="-1577505" y="2573005"/>
            <a:ext cx="374618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800" b="1" dirty="0">
                <a:solidFill>
                  <a:schemeClr val="bg1">
                    <a:alpha val="0"/>
                  </a:schemeClr>
                </a:solidFill>
              </a:rPr>
              <a:t>Exposé</a:t>
            </a:r>
          </a:p>
          <a:p>
            <a:pPr algn="ctr"/>
            <a:r>
              <a:rPr lang="de-DE" sz="4800" b="1" dirty="0">
                <a:solidFill>
                  <a:schemeClr val="bg1">
                    <a:alpha val="0"/>
                  </a:schemeClr>
                </a:solidFill>
              </a:rPr>
              <a:t>Präsentation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20056B28-95E3-71AF-2C28-2B6604D2F807}"/>
              </a:ext>
            </a:extLst>
          </p:cNvPr>
          <p:cNvCxnSpPr>
            <a:cxnSpLocks/>
          </p:cNvCxnSpPr>
          <p:nvPr/>
        </p:nvCxnSpPr>
        <p:spPr>
          <a:xfrm>
            <a:off x="13459735" y="3290207"/>
            <a:ext cx="238941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A44765C-4596-754E-B493-772E345C3233}"/>
              </a:ext>
            </a:extLst>
          </p:cNvPr>
          <p:cNvCxnSpPr>
            <a:cxnSpLocks/>
          </p:cNvCxnSpPr>
          <p:nvPr/>
        </p:nvCxnSpPr>
        <p:spPr>
          <a:xfrm>
            <a:off x="12588558" y="1334407"/>
            <a:ext cx="255704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E32C3DE-2AD1-C7DD-B0C7-5DC0EF2C416A}"/>
              </a:ext>
            </a:extLst>
          </p:cNvPr>
          <p:cNvCxnSpPr>
            <a:cxnSpLocks/>
          </p:cNvCxnSpPr>
          <p:nvPr/>
        </p:nvCxnSpPr>
        <p:spPr>
          <a:xfrm>
            <a:off x="12367535" y="5944507"/>
            <a:ext cx="255704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B62FF899-283E-423B-78C0-624578846EC9}"/>
              </a:ext>
            </a:extLst>
          </p:cNvPr>
          <p:cNvSpPr txBox="1"/>
          <p:nvPr/>
        </p:nvSpPr>
        <p:spPr>
          <a:xfrm>
            <a:off x="14357416" y="2838553"/>
            <a:ext cx="228216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Motivation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7D4EE64C-DB33-220E-73ED-60A0747C72C7}"/>
              </a:ext>
            </a:extLst>
          </p:cNvPr>
          <p:cNvSpPr txBox="1"/>
          <p:nvPr/>
        </p:nvSpPr>
        <p:spPr>
          <a:xfrm>
            <a:off x="13814408" y="5105100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Problem-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 err="1">
                <a:solidFill>
                  <a:schemeClr val="bg1"/>
                </a:solidFill>
              </a:rPr>
              <a:t>stellung</a:t>
            </a:r>
            <a:endParaRPr lang="de-DE" sz="2500" dirty="0">
              <a:solidFill>
                <a:schemeClr val="bg1"/>
              </a:solidFill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2FA69913-7C8C-176F-FC33-03A08A2A5BDB}"/>
              </a:ext>
            </a:extLst>
          </p:cNvPr>
          <p:cNvSpPr txBox="1"/>
          <p:nvPr/>
        </p:nvSpPr>
        <p:spPr>
          <a:xfrm>
            <a:off x="13132787" y="457205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Arbeitsplan und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>
                <a:solidFill>
                  <a:schemeClr val="bg1"/>
                </a:solidFill>
              </a:rPr>
              <a:t>aktueller Stand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F9D4575-CB90-0E0B-E75F-87035BBC4321}"/>
              </a:ext>
            </a:extLst>
          </p:cNvPr>
          <p:cNvCxnSpPr>
            <a:cxnSpLocks/>
          </p:cNvCxnSpPr>
          <p:nvPr/>
        </p:nvCxnSpPr>
        <p:spPr>
          <a:xfrm>
            <a:off x="-5306786" y="3988707"/>
            <a:ext cx="229170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C20A987-80EC-84DF-3E19-D57C1628ED87}"/>
              </a:ext>
            </a:extLst>
          </p:cNvPr>
          <p:cNvCxnSpPr>
            <a:cxnSpLocks/>
          </p:cNvCxnSpPr>
          <p:nvPr/>
        </p:nvCxnSpPr>
        <p:spPr>
          <a:xfrm>
            <a:off x="-4924423" y="1484085"/>
            <a:ext cx="2557044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55B489D3-B4E4-CCCD-7594-B416107E18B7}"/>
              </a:ext>
            </a:extLst>
          </p:cNvPr>
          <p:cNvCxnSpPr>
            <a:cxnSpLocks/>
          </p:cNvCxnSpPr>
          <p:nvPr/>
        </p:nvCxnSpPr>
        <p:spPr>
          <a:xfrm>
            <a:off x="-4606925" y="6147707"/>
            <a:ext cx="278615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350A0E77-4FDC-0CC8-129D-D5875E957744}"/>
              </a:ext>
            </a:extLst>
          </p:cNvPr>
          <p:cNvSpPr txBox="1"/>
          <p:nvPr/>
        </p:nvSpPr>
        <p:spPr>
          <a:xfrm>
            <a:off x="-4699677" y="5295600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Technologische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>
                <a:solidFill>
                  <a:schemeClr val="bg1"/>
                </a:solidFill>
              </a:rPr>
              <a:t>Mittel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458B946-8EAD-F792-104C-5A5F26E7D6F2}"/>
              </a:ext>
            </a:extLst>
          </p:cNvPr>
          <p:cNvSpPr txBox="1"/>
          <p:nvPr/>
        </p:nvSpPr>
        <p:spPr>
          <a:xfrm>
            <a:off x="-5398232" y="3165033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Untersuchungs-design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032B8084-3408-06BD-E2ED-B6686B36C29B}"/>
              </a:ext>
            </a:extLst>
          </p:cNvPr>
          <p:cNvSpPr txBox="1"/>
          <p:nvPr/>
        </p:nvSpPr>
        <p:spPr>
          <a:xfrm>
            <a:off x="-5001391" y="637063"/>
            <a:ext cx="22821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Arbeits-</a:t>
            </a:r>
            <a:br>
              <a:rPr lang="de-DE" sz="2500" dirty="0">
                <a:solidFill>
                  <a:schemeClr val="bg1"/>
                </a:solidFill>
              </a:rPr>
            </a:br>
            <a:r>
              <a:rPr lang="de-DE" sz="2500" dirty="0" err="1">
                <a:solidFill>
                  <a:schemeClr val="bg1"/>
                </a:solidFill>
              </a:rPr>
              <a:t>gliederung</a:t>
            </a:r>
            <a:endParaRPr lang="de-DE" sz="2500" dirty="0">
              <a:solidFill>
                <a:schemeClr val="bg1"/>
              </a:solidFill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6C94058C-6249-3187-B7A3-61C469CD4D0F}"/>
              </a:ext>
            </a:extLst>
          </p:cNvPr>
          <p:cNvSpPr txBox="1"/>
          <p:nvPr/>
        </p:nvSpPr>
        <p:spPr>
          <a:xfrm>
            <a:off x="4695714" y="1002166"/>
            <a:ext cx="671065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bg1"/>
                </a:solidFill>
              </a:rPr>
              <a:t>Praxisprojekt als Grundlage</a:t>
            </a:r>
          </a:p>
          <a:p>
            <a:r>
              <a:rPr lang="de-DE" sz="2800" dirty="0">
                <a:solidFill>
                  <a:schemeClr val="bg1"/>
                </a:solidFill>
              </a:rPr>
              <a:t>für nachfolgende Bachelorarbeit</a:t>
            </a:r>
          </a:p>
          <a:p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b="1" u="sng" dirty="0">
                <a:solidFill>
                  <a:schemeClr val="bg1"/>
                </a:solidFill>
              </a:rPr>
              <a:t>Ziel: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globale, harmonisierte Datenbasis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für Thermalwässer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heterogene Daten und Datenschemata</a:t>
            </a:r>
          </a:p>
          <a:p>
            <a:endParaRPr lang="de-DE" sz="2800" dirty="0">
              <a:solidFill>
                <a:schemeClr val="bg1"/>
              </a:solidFill>
            </a:endParaRPr>
          </a:p>
          <a:p>
            <a:r>
              <a:rPr lang="de-DE" sz="2800" b="1" u="sng" dirty="0">
                <a:solidFill>
                  <a:schemeClr val="bg1"/>
                </a:solidFill>
              </a:rPr>
              <a:t>Basis für:</a:t>
            </a:r>
          </a:p>
          <a:p>
            <a:r>
              <a:rPr lang="de-DE" sz="2800" dirty="0">
                <a:solidFill>
                  <a:schemeClr val="bg1"/>
                </a:solidFill>
              </a:rPr>
              <a:t>- Explorative Datenanalyse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statistische Analysen und </a:t>
            </a:r>
            <a:r>
              <a:rPr lang="de-DE" sz="2800" dirty="0" err="1">
                <a:solidFill>
                  <a:schemeClr val="bg1"/>
                </a:solidFill>
              </a:rPr>
              <a:t>Machine</a:t>
            </a:r>
            <a:r>
              <a:rPr lang="de-DE" sz="2800" dirty="0">
                <a:solidFill>
                  <a:schemeClr val="bg1"/>
                </a:solidFill>
              </a:rPr>
              <a:t> Learning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8FD96E9E-DC16-2ABE-5889-CF609B756837}"/>
              </a:ext>
            </a:extLst>
          </p:cNvPr>
          <p:cNvSpPr txBox="1"/>
          <p:nvPr/>
        </p:nvSpPr>
        <p:spPr>
          <a:xfrm>
            <a:off x="14490352" y="2829326"/>
            <a:ext cx="228216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500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C2F1293A-1118-FF99-EB01-D9D85654C000}"/>
              </a:ext>
            </a:extLst>
          </p:cNvPr>
          <p:cNvSpPr txBox="1"/>
          <p:nvPr/>
        </p:nvSpPr>
        <p:spPr>
          <a:xfrm>
            <a:off x="247076" y="3102741"/>
            <a:ext cx="2264911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500" b="1" dirty="0">
                <a:solidFill>
                  <a:schemeClr val="bg1"/>
                </a:solidFill>
              </a:rPr>
              <a:t>Abstract</a:t>
            </a:r>
          </a:p>
        </p:txBody>
      </p:sp>
    </p:spTree>
    <p:extLst>
      <p:ext uri="{BB962C8B-B14F-4D97-AF65-F5344CB8AC3E}">
        <p14:creationId xmlns:p14="http://schemas.microsoft.com/office/powerpoint/2010/main" val="25178842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  <p:bldP spid="7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0755AF-F372-761D-D45A-4A3924C5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>
            <a:extLst>
              <a:ext uri="{FF2B5EF4-FFF2-40B4-BE49-F238E27FC236}">
                <a16:creationId xmlns:a16="http://schemas.microsoft.com/office/drawing/2014/main" id="{2CC5EDF6-4E6A-79CC-174D-28052F1F9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 rot="18051712">
            <a:off x="909074" y="-165097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B4106349-5EC0-380D-8B61-4CD54F9F20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9591904">
            <a:off x="-2392996" y="626937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698D9F72-D12E-8CC9-AE84-A6AC48136A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10800021">
            <a:off x="-2813145" y="1970772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E4FD19F-1855-4FFB-1C31-30C20049EC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6904943">
            <a:off x="-1604676" y="4019310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7C296A81-CFC3-DD19-498C-839EB4E98B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5731629">
            <a:off x="1502806" y="2587471"/>
            <a:ext cx="3655880" cy="1686616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80851E27-828F-AC2C-24EE-F4FC16474A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4076641">
            <a:off x="846762" y="4045003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E78E5F56-8B95-76EF-EC53-6531D17E4421}"/>
              </a:ext>
            </a:extLst>
          </p:cNvPr>
          <p:cNvSpPr txBox="1"/>
          <p:nvPr/>
        </p:nvSpPr>
        <p:spPr>
          <a:xfrm>
            <a:off x="253790" y="2857105"/>
            <a:ext cx="22649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500" b="1" dirty="0">
                <a:solidFill>
                  <a:schemeClr val="bg1"/>
                </a:solidFill>
              </a:rPr>
              <a:t>Problem-</a:t>
            </a:r>
          </a:p>
          <a:p>
            <a:pPr algn="ctr"/>
            <a:r>
              <a:rPr lang="de-DE" sz="3500" b="1" dirty="0" err="1">
                <a:solidFill>
                  <a:schemeClr val="bg1"/>
                </a:solidFill>
              </a:rPr>
              <a:t>stellung</a:t>
            </a:r>
            <a:endParaRPr lang="de-DE" sz="3500" b="1" dirty="0">
              <a:solidFill>
                <a:schemeClr val="bg1"/>
              </a:solidFill>
            </a:endParaRP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55FD167-0ABE-5B68-58EE-F22D1DFBACBD}"/>
              </a:ext>
            </a:extLst>
          </p:cNvPr>
          <p:cNvSpPr txBox="1"/>
          <p:nvPr/>
        </p:nvSpPr>
        <p:spPr>
          <a:xfrm>
            <a:off x="4695895" y="1012954"/>
            <a:ext cx="806216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u="sng" dirty="0">
                <a:solidFill>
                  <a:schemeClr val="bg1"/>
                </a:solidFill>
              </a:rPr>
              <a:t>Geothermie wichtig, aber wenig genutzt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Enormes Potential für Wärmeversorgung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Grundlastfähige erneuerbare Energie</a:t>
            </a:r>
          </a:p>
          <a:p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b="1" u="sng" dirty="0">
                <a:solidFill>
                  <a:schemeClr val="bg1"/>
                </a:solidFill>
              </a:rPr>
              <a:t>Thermalwasser-Daten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sehr heterogen, aufwendig zusammenzuführen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kein globale ML-fähige Datenbasis vorhanden</a:t>
            </a:r>
            <a:br>
              <a:rPr lang="de-DE" sz="2800" dirty="0">
                <a:solidFill>
                  <a:schemeClr val="bg1"/>
                </a:solidFill>
              </a:rPr>
            </a:b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b="1" u="sng" dirty="0">
                <a:solidFill>
                  <a:schemeClr val="bg1"/>
                </a:solidFill>
              </a:rPr>
              <a:t>Ziel:</a:t>
            </a:r>
            <a:br>
              <a:rPr lang="de-DE" sz="2800" b="1" u="sng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Wissenslücke schließen, Datenbasis herstellen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Klassifikation effizienter Gestalten</a:t>
            </a:r>
          </a:p>
        </p:txBody>
      </p:sp>
    </p:spTree>
    <p:extLst>
      <p:ext uri="{BB962C8B-B14F-4D97-AF65-F5344CB8AC3E}">
        <p14:creationId xmlns:p14="http://schemas.microsoft.com/office/powerpoint/2010/main" val="15886597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9DD92-9EEE-407B-D300-A58F805A8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6B9E3B2-3F3B-9D00-7FCE-37F24A0ED2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 rot="14420183">
            <a:off x="-1578239" y="-195200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D11115DC-0E72-779F-E8B9-CDF83CEDA8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5960375">
            <a:off x="-3571944" y="2751727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DB01089-E82A-6852-5B6E-DF4670DC36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7168492">
            <a:off x="-1571337" y="4116816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1DC91C-D729-EBD1-495E-627ABC1F0D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3273414">
            <a:off x="816061" y="4040530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DB4BD0A-1C5F-5BAC-A7B7-05A371039A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2100100">
            <a:off x="1837" y="602568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4753180-4518-9722-49D0-3A3310A737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445112">
            <a:off x="2372453" y="1594565"/>
            <a:ext cx="1788230" cy="3530150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3EA16E9-E1B3-F58A-2938-7C4F81C8148B}"/>
              </a:ext>
            </a:extLst>
          </p:cNvPr>
          <p:cNvSpPr txBox="1"/>
          <p:nvPr/>
        </p:nvSpPr>
        <p:spPr>
          <a:xfrm>
            <a:off x="210702" y="2578160"/>
            <a:ext cx="226491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500" b="1" dirty="0">
                <a:solidFill>
                  <a:schemeClr val="bg1"/>
                </a:solidFill>
              </a:rPr>
              <a:t>Techno-</a:t>
            </a:r>
          </a:p>
          <a:p>
            <a:pPr algn="ctr"/>
            <a:r>
              <a:rPr lang="de-DE" sz="3500" b="1" dirty="0">
                <a:solidFill>
                  <a:schemeClr val="bg1"/>
                </a:solidFill>
              </a:rPr>
              <a:t>Logische</a:t>
            </a:r>
            <a:br>
              <a:rPr lang="de-DE" sz="3500" b="1" dirty="0">
                <a:solidFill>
                  <a:schemeClr val="bg1"/>
                </a:solidFill>
              </a:rPr>
            </a:br>
            <a:r>
              <a:rPr lang="de-DE" sz="3500" b="1" dirty="0">
                <a:solidFill>
                  <a:schemeClr val="bg1"/>
                </a:solidFill>
              </a:rPr>
              <a:t>Mittel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E4358EE-F114-9094-2143-105BF1FCE0C7}"/>
              </a:ext>
            </a:extLst>
          </p:cNvPr>
          <p:cNvSpPr txBox="1"/>
          <p:nvPr/>
        </p:nvSpPr>
        <p:spPr>
          <a:xfrm>
            <a:off x="4681381" y="1086842"/>
            <a:ext cx="806216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u="sng" dirty="0" err="1">
                <a:solidFill>
                  <a:schemeClr val="bg1"/>
                </a:solidFill>
              </a:rPr>
              <a:t>Jupyter</a:t>
            </a:r>
            <a:r>
              <a:rPr lang="de-DE" sz="2800" b="1" u="sng" dirty="0">
                <a:solidFill>
                  <a:schemeClr val="bg1"/>
                </a:solidFill>
              </a:rPr>
              <a:t> Notebooks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Organisation der einzelnen Schritte</a:t>
            </a:r>
          </a:p>
          <a:p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b="1" u="sng" dirty="0">
                <a:solidFill>
                  <a:schemeClr val="bg1"/>
                </a:solidFill>
              </a:rPr>
              <a:t>Python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Bibliotheken (</a:t>
            </a:r>
            <a:r>
              <a:rPr lang="de-DE" sz="2800" dirty="0" err="1">
                <a:solidFill>
                  <a:schemeClr val="bg1"/>
                </a:solidFill>
              </a:rPr>
              <a:t>pandas</a:t>
            </a:r>
            <a:r>
              <a:rPr lang="de-DE" sz="2800" dirty="0">
                <a:solidFill>
                  <a:schemeClr val="bg1"/>
                </a:solidFill>
              </a:rPr>
              <a:t>, </a:t>
            </a:r>
            <a:r>
              <a:rPr lang="de-DE" sz="2800" dirty="0" err="1">
                <a:solidFill>
                  <a:schemeClr val="bg1"/>
                </a:solidFill>
              </a:rPr>
              <a:t>numpy</a:t>
            </a:r>
            <a:r>
              <a:rPr lang="de-DE" sz="2800" dirty="0">
                <a:solidFill>
                  <a:schemeClr val="bg1"/>
                </a:solidFill>
              </a:rPr>
              <a:t>, </a:t>
            </a:r>
            <a:r>
              <a:rPr lang="de-DE" sz="2800" dirty="0" err="1">
                <a:solidFill>
                  <a:schemeClr val="bg1"/>
                </a:solidFill>
              </a:rPr>
              <a:t>os</a:t>
            </a:r>
            <a:r>
              <a:rPr lang="de-DE" sz="2800" dirty="0">
                <a:solidFill>
                  <a:schemeClr val="bg1"/>
                </a:solidFill>
              </a:rPr>
              <a:t>, </a:t>
            </a:r>
            <a:r>
              <a:rPr lang="de-DE" sz="2800" dirty="0" err="1">
                <a:solidFill>
                  <a:schemeClr val="bg1"/>
                </a:solidFill>
              </a:rPr>
              <a:t>folium</a:t>
            </a:r>
            <a:r>
              <a:rPr lang="de-DE" sz="2800" dirty="0">
                <a:solidFill>
                  <a:schemeClr val="bg1"/>
                </a:solidFill>
              </a:rPr>
              <a:t>, …)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standardisierte Funktionen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strukturierte Vorgehensweise</a:t>
            </a:r>
          </a:p>
          <a:p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b="1" u="sng" dirty="0">
                <a:solidFill>
                  <a:schemeClr val="bg1"/>
                </a:solidFill>
              </a:rPr>
              <a:t>ML-Methodik</a:t>
            </a:r>
            <a:r>
              <a:rPr lang="de-DE" sz="2800" dirty="0">
                <a:solidFill>
                  <a:schemeClr val="bg1"/>
                </a:solidFill>
              </a:rPr>
              <a:t> (spätere in BA)</a:t>
            </a:r>
            <a:br>
              <a:rPr lang="de-DE" sz="2800" b="1" u="sng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tiefe neuronale Netze, </a:t>
            </a:r>
            <a:r>
              <a:rPr lang="de-DE" sz="2800" dirty="0" err="1">
                <a:solidFill>
                  <a:schemeClr val="bg1"/>
                </a:solidFill>
              </a:rPr>
              <a:t>vsl</a:t>
            </a:r>
            <a:r>
              <a:rPr lang="de-DE" sz="2800" dirty="0">
                <a:solidFill>
                  <a:schemeClr val="bg1"/>
                </a:solidFill>
              </a:rPr>
              <a:t>. unüberwacht</a:t>
            </a:r>
            <a:br>
              <a:rPr lang="de-DE" sz="2800" dirty="0">
                <a:solidFill>
                  <a:schemeClr val="bg1"/>
                </a:solidFill>
              </a:rPr>
            </a:br>
            <a:r>
              <a:rPr lang="de-DE" sz="2800" dirty="0">
                <a:solidFill>
                  <a:schemeClr val="bg1"/>
                </a:solidFill>
              </a:rPr>
              <a:t>- bspw. Self </a:t>
            </a:r>
            <a:r>
              <a:rPr lang="de-DE" sz="2800" dirty="0" err="1">
                <a:solidFill>
                  <a:schemeClr val="bg1"/>
                </a:solidFill>
              </a:rPr>
              <a:t>Organizing</a:t>
            </a:r>
            <a:r>
              <a:rPr lang="de-DE" sz="2800" dirty="0">
                <a:solidFill>
                  <a:schemeClr val="bg1"/>
                </a:solidFill>
              </a:rPr>
              <a:t> Maps</a:t>
            </a:r>
          </a:p>
        </p:txBody>
      </p:sp>
    </p:spTree>
    <p:extLst>
      <p:ext uri="{BB962C8B-B14F-4D97-AF65-F5344CB8AC3E}">
        <p14:creationId xmlns:p14="http://schemas.microsoft.com/office/powerpoint/2010/main" val="36564439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9C087-F04B-3734-52A8-4E74ADCA4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29E3EC63-7129-5E17-01B5-EAD7FB7EA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 rot="10800000">
            <a:off x="-2764998" y="1925207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5024F65-B8FC-E12E-9D04-B0DB1444D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2340192">
            <a:off x="-2245948" y="4797759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BA6D9DF-7BEB-A426-6C99-407C56F3C3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3548309">
            <a:off x="964289" y="4073782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C1A068CB-B3F3-8CA5-A527-48FD741123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21253231">
            <a:off x="2534608" y="1529672"/>
            <a:ext cx="1766037" cy="3805073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328498-D494-B0E2-7E66-359D9AAA97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20079917">
            <a:off x="-2407252" y="632761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F2C408FD-3720-3199-692B-8B6B2F1EF8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18424929">
            <a:off x="753534" y="-158637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875E726F-7F94-689D-9A05-EB091352CA88}"/>
              </a:ext>
            </a:extLst>
          </p:cNvPr>
          <p:cNvSpPr txBox="1"/>
          <p:nvPr/>
        </p:nvSpPr>
        <p:spPr>
          <a:xfrm>
            <a:off x="210702" y="2578160"/>
            <a:ext cx="226491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500" b="1" dirty="0">
                <a:solidFill>
                  <a:schemeClr val="bg1"/>
                </a:solidFill>
              </a:rPr>
              <a:t>Unter-</a:t>
            </a:r>
          </a:p>
          <a:p>
            <a:pPr algn="ctr"/>
            <a:r>
              <a:rPr lang="de-DE" sz="3500" b="1" dirty="0">
                <a:solidFill>
                  <a:schemeClr val="bg1"/>
                </a:solidFill>
              </a:rPr>
              <a:t>suchungs-</a:t>
            </a:r>
            <a:br>
              <a:rPr lang="de-DE" sz="3500" b="1" dirty="0">
                <a:solidFill>
                  <a:schemeClr val="bg1"/>
                </a:solidFill>
              </a:rPr>
            </a:br>
            <a:r>
              <a:rPr lang="de-DE" sz="3500" b="1" dirty="0">
                <a:solidFill>
                  <a:schemeClr val="bg1"/>
                </a:solidFill>
              </a:rPr>
              <a:t>design</a:t>
            </a:r>
          </a:p>
        </p:txBody>
      </p:sp>
    </p:spTree>
    <p:extLst>
      <p:ext uri="{BB962C8B-B14F-4D97-AF65-F5344CB8AC3E}">
        <p14:creationId xmlns:p14="http://schemas.microsoft.com/office/powerpoint/2010/main" val="2618967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C63D6-6F51-700C-A8B4-165C8393E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D21A8A39-3F14-6B01-145C-0A116480C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 rot="7250197">
            <a:off x="-1527310" y="4024713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C1AF6261-74C6-F05C-B3E1-ABE5B39D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20390389">
            <a:off x="172135" y="4728192"/>
            <a:ext cx="2959074" cy="1502322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0156394-8DEC-8DB3-8C90-8EFC25C779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21598506">
            <a:off x="2623571" y="1559038"/>
            <a:ext cx="1699730" cy="3725977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685F020-437C-53DE-A67B-53B8AFFA63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17703428">
            <a:off x="953107" y="-152333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CCE85B6-BD54-B9D7-F0BF-1B8A431073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16530114">
            <a:off x="-3548175" y="2735107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AAF4147-3CE3-321D-8676-19464DACBE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14875126">
            <a:off x="-1581577" y="-90780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ADBFA946-49FE-FE61-5AC2-D022534F92E5}"/>
              </a:ext>
            </a:extLst>
          </p:cNvPr>
          <p:cNvSpPr txBox="1"/>
          <p:nvPr/>
        </p:nvSpPr>
        <p:spPr>
          <a:xfrm>
            <a:off x="223959" y="2837250"/>
            <a:ext cx="22649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500" b="1" dirty="0">
                <a:solidFill>
                  <a:schemeClr val="bg1"/>
                </a:solidFill>
              </a:rPr>
              <a:t>Arbeits-</a:t>
            </a:r>
          </a:p>
          <a:p>
            <a:pPr algn="ctr"/>
            <a:r>
              <a:rPr lang="de-DE" sz="3500" b="1" dirty="0" err="1">
                <a:solidFill>
                  <a:schemeClr val="bg1"/>
                </a:solidFill>
              </a:rPr>
              <a:t>gliederung</a:t>
            </a:r>
            <a:endParaRPr lang="de-DE" sz="3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12079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184D40-F950-0FFF-5EC3-3717410AF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DEA1B77A-7739-D0A4-D34D-EFCBD9C4B0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8" t="-1667" r="22620" b="1667"/>
          <a:stretch>
            <a:fillRect/>
          </a:stretch>
        </p:blipFill>
        <p:spPr>
          <a:xfrm rot="3616145">
            <a:off x="1012377" y="4052845"/>
            <a:ext cx="1356468" cy="2998937"/>
          </a:xfrm>
          <a:custGeom>
            <a:avLst/>
            <a:gdLst>
              <a:gd name="connsiteX0" fmla="*/ 842892 w 1237937"/>
              <a:gd name="connsiteY0" fmla="*/ 0 h 2736884"/>
              <a:gd name="connsiteX1" fmla="*/ 904363 w 1237937"/>
              <a:gd name="connsiteY1" fmla="*/ 2736884 h 2736884"/>
              <a:gd name="connsiteX2" fmla="*/ 42808 w 1237937"/>
              <a:gd name="connsiteY2" fmla="*/ 2248176 h 2736884"/>
              <a:gd name="connsiteX3" fmla="*/ 92754 w 1237937"/>
              <a:gd name="connsiteY3" fmla="*/ 2151899 h 2736884"/>
              <a:gd name="connsiteX4" fmla="*/ 83456 w 1237937"/>
              <a:gd name="connsiteY4" fmla="*/ 660518 h 2736884"/>
              <a:gd name="connsiteX5" fmla="*/ 0 w 1237937"/>
              <a:gd name="connsiteY5" fmla="*/ 503692 h 2736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7937" h="2736884">
                <a:moveTo>
                  <a:pt x="842892" y="0"/>
                </a:moveTo>
                <a:cubicBezTo>
                  <a:pt x="1346728" y="843133"/>
                  <a:pt x="1370161" y="1886429"/>
                  <a:pt x="904363" y="2736884"/>
                </a:cubicBezTo>
                <a:lnTo>
                  <a:pt x="42808" y="2248176"/>
                </a:lnTo>
                <a:lnTo>
                  <a:pt x="92754" y="2151899"/>
                </a:lnTo>
                <a:cubicBezTo>
                  <a:pt x="303155" y="1693131"/>
                  <a:pt x="311960" y="1146972"/>
                  <a:pt x="83456" y="660518"/>
                </a:cubicBezTo>
                <a:lnTo>
                  <a:pt x="0" y="503692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FDF2AA26-E8C9-D7F0-221B-BAD8CF3FC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52" b="11952"/>
          <a:stretch/>
        </p:blipFill>
        <p:spPr>
          <a:xfrm rot="16756337">
            <a:off x="1657966" y="2312426"/>
            <a:ext cx="3905824" cy="1982987"/>
          </a:xfrm>
          <a:custGeom>
            <a:avLst/>
            <a:gdLst>
              <a:gd name="connsiteX0" fmla="*/ 2063612 w 2700505"/>
              <a:gd name="connsiteY0" fmla="*/ 0 h 1371046"/>
              <a:gd name="connsiteX1" fmla="*/ 2700505 w 2700505"/>
              <a:gd name="connsiteY1" fmla="*/ 751267 h 1371046"/>
              <a:gd name="connsiteX2" fmla="*/ 0 w 2700505"/>
              <a:gd name="connsiteY2" fmla="*/ 1200250 h 1371046"/>
              <a:gd name="connsiteX3" fmla="*/ 338015 w 2700505"/>
              <a:gd name="connsiteY3" fmla="*/ 278339 h 1371046"/>
              <a:gd name="connsiteX4" fmla="*/ 341051 w 2700505"/>
              <a:gd name="connsiteY4" fmla="*/ 279626 h 1371046"/>
              <a:gd name="connsiteX5" fmla="*/ 1980874 w 2700505"/>
              <a:gd name="connsiteY5" fmla="*/ 64982 h 137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00505" h="1371046">
                <a:moveTo>
                  <a:pt x="2063612" y="0"/>
                </a:moveTo>
                <a:lnTo>
                  <a:pt x="2700505" y="751267"/>
                </a:lnTo>
                <a:cubicBezTo>
                  <a:pt x="1951600" y="1367210"/>
                  <a:pt x="922174" y="1538362"/>
                  <a:pt x="0" y="1200250"/>
                </a:cubicBezTo>
                <a:lnTo>
                  <a:pt x="338015" y="278339"/>
                </a:lnTo>
                <a:lnTo>
                  <a:pt x="341051" y="279626"/>
                </a:lnTo>
                <a:cubicBezTo>
                  <a:pt x="913895" y="489657"/>
                  <a:pt x="1523546" y="389548"/>
                  <a:pt x="1980874" y="64982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64654CE-012B-3830-C25D-CE490D8A91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38" t="449" r="51262" b="-449"/>
          <a:stretch>
            <a:fillRect/>
          </a:stretch>
        </p:blipFill>
        <p:spPr>
          <a:xfrm rot="17964454">
            <a:off x="1014718" y="-202449"/>
            <a:ext cx="1342193" cy="2942219"/>
          </a:xfrm>
          <a:custGeom>
            <a:avLst/>
            <a:gdLst>
              <a:gd name="connsiteX0" fmla="*/ 856583 w 1224910"/>
              <a:gd name="connsiteY0" fmla="*/ 0 h 2685123"/>
              <a:gd name="connsiteX1" fmla="*/ 942910 w 1224910"/>
              <a:gd name="connsiteY1" fmla="*/ 2543370 h 2685123"/>
              <a:gd name="connsiteX2" fmla="*/ 865921 w 1224910"/>
              <a:gd name="connsiteY2" fmla="*/ 2685123 h 2685123"/>
              <a:gd name="connsiteX3" fmla="*/ 826285 w 1224910"/>
              <a:gd name="connsiteY3" fmla="*/ 2685123 h 2685123"/>
              <a:gd name="connsiteX4" fmla="*/ 0 w 1224910"/>
              <a:gd name="connsiteY4" fmla="*/ 2216208 h 2685123"/>
              <a:gd name="connsiteX5" fmla="*/ 33226 w 1224910"/>
              <a:gd name="connsiteY5" fmla="*/ 2162450 h 2685123"/>
              <a:gd name="connsiteX6" fmla="*/ 246564 w 1224910"/>
              <a:gd name="connsiteY6" fmla="*/ 1334288 h 2685123"/>
              <a:gd name="connsiteX7" fmla="*/ 33226 w 1224910"/>
              <a:gd name="connsiteY7" fmla="*/ 506128 h 2685123"/>
              <a:gd name="connsiteX8" fmla="*/ 15439 w 1224910"/>
              <a:gd name="connsiteY8" fmla="*/ 477349 h 26851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4910" h="2685123">
                <a:moveTo>
                  <a:pt x="856583" y="0"/>
                </a:moveTo>
                <a:cubicBezTo>
                  <a:pt x="1316992" y="783843"/>
                  <a:pt x="1345768" y="1738211"/>
                  <a:pt x="942910" y="2543370"/>
                </a:cubicBezTo>
                <a:lnTo>
                  <a:pt x="865921" y="2685123"/>
                </a:lnTo>
                <a:lnTo>
                  <a:pt x="826285" y="2685123"/>
                </a:lnTo>
                <a:lnTo>
                  <a:pt x="0" y="2216208"/>
                </a:lnTo>
                <a:lnTo>
                  <a:pt x="33226" y="2162450"/>
                </a:lnTo>
                <a:cubicBezTo>
                  <a:pt x="169282" y="1916268"/>
                  <a:pt x="246564" y="1634149"/>
                  <a:pt x="246564" y="1334288"/>
                </a:cubicBezTo>
                <a:cubicBezTo>
                  <a:pt x="246564" y="1034427"/>
                  <a:pt x="169282" y="752309"/>
                  <a:pt x="33226" y="506128"/>
                </a:cubicBezTo>
                <a:lnTo>
                  <a:pt x="15439" y="477349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AC09E62-0459-16D3-D379-7D6592FBB6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2" t="8728" r="26902" b="570"/>
          <a:stretch>
            <a:fillRect/>
          </a:stretch>
        </p:blipFill>
        <p:spPr>
          <a:xfrm rot="14069376">
            <a:off x="-1418383" y="-171588"/>
            <a:ext cx="1387960" cy="2990475"/>
          </a:xfrm>
          <a:custGeom>
            <a:avLst/>
            <a:gdLst>
              <a:gd name="connsiteX0" fmla="*/ 1003356 w 1266678"/>
              <a:gd name="connsiteY0" fmla="*/ 0 h 2729162"/>
              <a:gd name="connsiteX1" fmla="*/ 788910 w 1266678"/>
              <a:gd name="connsiteY1" fmla="*/ 2729162 h 2729162"/>
              <a:gd name="connsiteX2" fmla="*/ 0 w 1266678"/>
              <a:gd name="connsiteY2" fmla="*/ 2169691 h 2729162"/>
              <a:gd name="connsiteX3" fmla="*/ 73685 w 1266678"/>
              <a:gd name="connsiteY3" fmla="*/ 2057087 h 2729162"/>
              <a:gd name="connsiteX4" fmla="*/ 146127 w 1266678"/>
              <a:gd name="connsiteY4" fmla="*/ 404864 h 2729162"/>
              <a:gd name="connsiteX5" fmla="*/ 144583 w 1266678"/>
              <a:gd name="connsiteY5" fmla="*/ 401950 h 2729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6678" h="2729162">
                <a:moveTo>
                  <a:pt x="1003356" y="0"/>
                </a:moveTo>
                <a:cubicBezTo>
                  <a:pt x="1419727" y="889584"/>
                  <a:pt x="1337981" y="1929936"/>
                  <a:pt x="788910" y="2729162"/>
                </a:cubicBezTo>
                <a:lnTo>
                  <a:pt x="0" y="2169691"/>
                </a:lnTo>
                <a:lnTo>
                  <a:pt x="73685" y="2057087"/>
                </a:lnTo>
                <a:cubicBezTo>
                  <a:pt x="357606" y="1573476"/>
                  <a:pt x="404772" y="957463"/>
                  <a:pt x="146127" y="404864"/>
                </a:cubicBezTo>
                <a:lnTo>
                  <a:pt x="144583" y="401950"/>
                </a:ln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9D7E3F72-3881-817A-0B4A-3DDD96ADEF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1" t="34352" r="30555" b="-829"/>
          <a:stretch>
            <a:fillRect/>
          </a:stretch>
        </p:blipFill>
        <p:spPr>
          <a:xfrm rot="12896062">
            <a:off x="-2225805" y="4866087"/>
            <a:ext cx="3014583" cy="1390758"/>
          </a:xfrm>
          <a:custGeom>
            <a:avLst/>
            <a:gdLst>
              <a:gd name="connsiteX0" fmla="*/ 2731429 w 2731429"/>
              <a:gd name="connsiteY0" fmla="*/ 276951 h 1260127"/>
              <a:gd name="connsiteX1" fmla="*/ 2319719 w 2731429"/>
              <a:gd name="connsiteY1" fmla="*/ 1131086 h 1260127"/>
              <a:gd name="connsiteX2" fmla="*/ 2156063 w 2731429"/>
              <a:gd name="connsiteY2" fmla="*/ 1061977 h 1260127"/>
              <a:gd name="connsiteX3" fmla="*/ 669818 w 2731429"/>
              <a:gd name="connsiteY3" fmla="*/ 1185979 h 1260127"/>
              <a:gd name="connsiteX4" fmla="*/ 553635 w 2731429"/>
              <a:gd name="connsiteY4" fmla="*/ 1260127 h 1260127"/>
              <a:gd name="connsiteX5" fmla="*/ 0 w 2731429"/>
              <a:gd name="connsiteY5" fmla="*/ 460282 h 1260127"/>
              <a:gd name="connsiteX6" fmla="*/ 2731429 w 2731429"/>
              <a:gd name="connsiteY6" fmla="*/ 276951 h 1260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31429" h="1260127">
                <a:moveTo>
                  <a:pt x="2731429" y="276951"/>
                </a:moveTo>
                <a:lnTo>
                  <a:pt x="2319719" y="1131086"/>
                </a:lnTo>
                <a:lnTo>
                  <a:pt x="2156063" y="1061977"/>
                </a:lnTo>
                <a:cubicBezTo>
                  <a:pt x="1651137" y="877855"/>
                  <a:pt x="1107951" y="935426"/>
                  <a:pt x="669818" y="1185979"/>
                </a:cubicBezTo>
                <a:lnTo>
                  <a:pt x="553635" y="1260127"/>
                </a:lnTo>
                <a:lnTo>
                  <a:pt x="0" y="460282"/>
                </a:lnTo>
                <a:cubicBezTo>
                  <a:pt x="805433" y="-79645"/>
                  <a:pt x="1846648" y="-149531"/>
                  <a:pt x="2731429" y="276951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1CB7ADA-8E97-973E-64E8-6D4F5B2322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6" r="32096"/>
          <a:stretch/>
        </p:blipFill>
        <p:spPr>
          <a:xfrm rot="11241074">
            <a:off x="-2668998" y="2051858"/>
            <a:ext cx="1471214" cy="2904327"/>
          </a:xfrm>
          <a:custGeom>
            <a:avLst/>
            <a:gdLst>
              <a:gd name="connsiteX0" fmla="*/ 1131871 w 1342657"/>
              <a:gd name="connsiteY0" fmla="*/ 2650542 h 2650542"/>
              <a:gd name="connsiteX1" fmla="*/ 1041279 w 1342657"/>
              <a:gd name="connsiteY1" fmla="*/ 2650542 h 2650542"/>
              <a:gd name="connsiteX2" fmla="*/ 221761 w 1342657"/>
              <a:gd name="connsiteY2" fmla="*/ 2307143 h 2650542"/>
              <a:gd name="connsiteX3" fmla="*/ 234625 w 1342657"/>
              <a:gd name="connsiteY3" fmla="*/ 2279403 h 2650542"/>
              <a:gd name="connsiteX4" fmla="*/ 347814 w 1342657"/>
              <a:gd name="connsiteY4" fmla="*/ 1431729 h 2650542"/>
              <a:gd name="connsiteX5" fmla="*/ 37363 w 1342657"/>
              <a:gd name="connsiteY5" fmla="*/ 634869 h 2650542"/>
              <a:gd name="connsiteX6" fmla="*/ 0 w 1342657"/>
              <a:gd name="connsiteY6" fmla="*/ 587994 h 2650542"/>
              <a:gd name="connsiteX7" fmla="*/ 797106 w 1342657"/>
              <a:gd name="connsiteY7" fmla="*/ 0 h 2650542"/>
              <a:gd name="connsiteX8" fmla="*/ 1185724 w 1342657"/>
              <a:gd name="connsiteY8" fmla="*/ 2514987 h 26505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2657" h="2650542">
                <a:moveTo>
                  <a:pt x="1131871" y="2650542"/>
                </a:moveTo>
                <a:lnTo>
                  <a:pt x="1041279" y="2650542"/>
                </a:lnTo>
                <a:lnTo>
                  <a:pt x="221761" y="2307143"/>
                </a:lnTo>
                <a:lnTo>
                  <a:pt x="234625" y="2279403"/>
                </a:lnTo>
                <a:cubicBezTo>
                  <a:pt x="340393" y="2018770"/>
                  <a:pt x="383526" y="1729455"/>
                  <a:pt x="347814" y="1431729"/>
                </a:cubicBezTo>
                <a:cubicBezTo>
                  <a:pt x="312102" y="1134002"/>
                  <a:pt x="201770" y="863095"/>
                  <a:pt x="37363" y="634869"/>
                </a:cubicBezTo>
                <a:lnTo>
                  <a:pt x="0" y="587994"/>
                </a:lnTo>
                <a:lnTo>
                  <a:pt x="797106" y="0"/>
                </a:lnTo>
                <a:cubicBezTo>
                  <a:pt x="1347591" y="723431"/>
                  <a:pt x="1489823" y="1667580"/>
                  <a:pt x="1185724" y="2514987"/>
                </a:cubicBezTo>
                <a:close/>
              </a:path>
            </a:pathLst>
          </a:custGeom>
          <a:ln>
            <a:solidFill>
              <a:schemeClr val="bg1">
                <a:lumMod val="95000"/>
              </a:schemeClr>
            </a:solidFill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0FA217E8-DBC1-0A2D-DC42-2E235726CFB3}"/>
              </a:ext>
            </a:extLst>
          </p:cNvPr>
          <p:cNvSpPr txBox="1"/>
          <p:nvPr/>
        </p:nvSpPr>
        <p:spPr>
          <a:xfrm>
            <a:off x="155682" y="2631234"/>
            <a:ext cx="268434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500" b="1" dirty="0">
                <a:solidFill>
                  <a:schemeClr val="bg1"/>
                </a:solidFill>
              </a:rPr>
              <a:t>Arbeitsplan</a:t>
            </a:r>
            <a:br>
              <a:rPr lang="de-DE" sz="3500" b="1" dirty="0">
                <a:solidFill>
                  <a:schemeClr val="bg1"/>
                </a:solidFill>
              </a:rPr>
            </a:br>
            <a:r>
              <a:rPr lang="de-DE" sz="3500" b="1" dirty="0">
                <a:solidFill>
                  <a:schemeClr val="bg1"/>
                </a:solidFill>
              </a:rPr>
              <a:t>und aktueller</a:t>
            </a:r>
            <a:br>
              <a:rPr lang="de-DE" sz="3500" b="1" dirty="0">
                <a:solidFill>
                  <a:schemeClr val="bg1"/>
                </a:solidFill>
              </a:rPr>
            </a:br>
            <a:r>
              <a:rPr lang="de-DE" sz="3500" b="1" dirty="0">
                <a:solidFill>
                  <a:schemeClr val="bg1"/>
                </a:solidFill>
              </a:rPr>
              <a:t>Stand</a:t>
            </a:r>
          </a:p>
        </p:txBody>
      </p:sp>
    </p:spTree>
    <p:extLst>
      <p:ext uri="{BB962C8B-B14F-4D97-AF65-F5344CB8AC3E}">
        <p14:creationId xmlns:p14="http://schemas.microsoft.com/office/powerpoint/2010/main" val="42047841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</Words>
  <Application>Microsoft Office PowerPoint</Application>
  <PresentationFormat>Breitbild</PresentationFormat>
  <Paragraphs>59</Paragraphs>
  <Slides>9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Lucca Glessner</dc:creator>
  <cp:lastModifiedBy>Lucca Glessner</cp:lastModifiedBy>
  <cp:revision>9</cp:revision>
  <dcterms:created xsi:type="dcterms:W3CDTF">2025-11-14T14:19:45Z</dcterms:created>
  <dcterms:modified xsi:type="dcterms:W3CDTF">2025-11-18T11:48:41Z</dcterms:modified>
</cp:coreProperties>
</file>